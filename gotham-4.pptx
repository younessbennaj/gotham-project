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2AA1153-A0A4-E508-11DD-966035192352}" v="432" dt="2021-02-11T09:54:30.685"/>
    <p1510:client id="{70CC6321-B76A-5FE3-AF7B-5493AC0A8815}" v="1097" dt="2021-02-11T09:55:23.277"/>
    <p1510:client id="{828ED1F0-83BE-413E-BA65-A7743C0953FA}" v="486" dt="2021-02-11T09:32:30.584"/>
    <p1510:client id="{BEFF3752-FC61-4F6E-A000-69A8024F3A15}" v="114" dt="2021-02-11T09:58:02.245"/>
    <p1510:client id="{F81AA10D-8AC3-DDE0-71B3-25729C399A57}" v="332" dt="2021-02-11T09:55:21.9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de-D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de-D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de-DE" smtClean="0"/>
              <a:t>12.02.2021</a:t>
            </a:fld>
            <a:endParaRPr lang="de-D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de-DE" smtClean="0"/>
              <a:t>‹N°›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10491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de-D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de-D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de-DE" smtClean="0"/>
              <a:t>12.02.2021</a:t>
            </a:fld>
            <a:endParaRPr lang="de-D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de-DE" smtClean="0"/>
              <a:t>‹N°›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41795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de-D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de-DE" smtClean="0"/>
              <a:t>12.02.2021</a:t>
            </a:fld>
            <a:endParaRPr lang="de-D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de-DE" smtClean="0"/>
              <a:t>‹N°›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66923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de-D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de-D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de-D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de-DE" smtClean="0"/>
              <a:t>12.02.2021</a:t>
            </a:fld>
            <a:endParaRPr lang="de-D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de-DE" smtClean="0"/>
              <a:t>‹N°›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47632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de-D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de-D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de-D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de-DE" smtClean="0"/>
              <a:t>12.02.2021</a:t>
            </a:fld>
            <a:endParaRPr lang="de-D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de-DE" smtClean="0"/>
              <a:t>‹N°›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11866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de-D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de-DE" smtClean="0"/>
              <a:t>12.02.2021</a:t>
            </a:fld>
            <a:endParaRPr lang="de-D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de-DE" smtClean="0"/>
              <a:t>‹N°›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95854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de-DE" smtClean="0"/>
              <a:t>12.02.2021</a:t>
            </a:fld>
            <a:endParaRPr lang="de-D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de-DE" smtClean="0"/>
              <a:t>‹N°›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40201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de-D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de-D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de-DE" smtClean="0"/>
              <a:t>12.02.2021</a:t>
            </a:fld>
            <a:endParaRPr lang="de-D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de-DE" smtClean="0"/>
              <a:t>‹N°›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06407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de-D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de-DE" smtClean="0"/>
              <a:t>12.02.2021</a:t>
            </a:fld>
            <a:endParaRPr lang="de-D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de-DE" smtClean="0"/>
              <a:t>‹N°›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10903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de-D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de-D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de-DE" smtClean="0"/>
              <a:t>12.02.2021</a:t>
            </a:fld>
            <a:endParaRPr lang="de-D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de-DE" smtClean="0"/>
              <a:t>‹N°›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72787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de-D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de-D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de-DE" smtClean="0"/>
              <a:t>12.02.2021</a:t>
            </a:fld>
            <a:endParaRPr lang="de-D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de-DE" smtClean="0"/>
              <a:t>‹N°›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02177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de-D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de-D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941B0-F4D5-4460-BCAD-F7E2B41A8257}" type="datetimeFigureOut">
              <a:rPr lang="de-DE" smtClean="0"/>
              <a:t>12.02.2021</a:t>
            </a:fld>
            <a:endParaRPr lang="de-D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C6CCC6-2BE5-4E42-96A4-D1E8E81A3D8E}" type="slidenum">
              <a:rPr lang="de-DE" smtClean="0"/>
              <a:t>‹N°›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71127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2245809"/>
            <a:ext cx="9144000" cy="1564716"/>
          </a:xfrm>
        </p:spPr>
        <p:txBody>
          <a:bodyPr>
            <a:normAutofit/>
          </a:bodyPr>
          <a:lstStyle/>
          <a:p>
            <a:pPr algn="l"/>
            <a:r>
              <a:rPr lang="de-DE" sz="4800">
                <a:cs typeface="Calibri Light"/>
              </a:rPr>
              <a:t>Projet Gotham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947050"/>
            <a:ext cx="9144000" cy="572583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de-DE" sz="2000">
                <a:cs typeface="Calibri"/>
              </a:rPr>
              <a:t>Final delivery</a:t>
            </a:r>
            <a:endParaRPr lang="de-DE" sz="2000"/>
          </a:p>
        </p:txBody>
      </p:sp>
      <p:sp>
        <p:nvSpPr>
          <p:cNvPr id="18" name="Freeform 14">
            <a:extLst>
              <a:ext uri="{FF2B5EF4-FFF2-40B4-BE49-F238E27FC236}">
                <a16:creationId xmlns:a16="http://schemas.microsoft.com/office/drawing/2014/main" id="{C66F2F30-5DC0-44A0-BFA6-E12F46ED16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5920619" cy="2130951"/>
          </a:xfrm>
          <a:custGeom>
            <a:avLst/>
            <a:gdLst>
              <a:gd name="connsiteX0" fmla="*/ 0 w 5920619"/>
              <a:gd name="connsiteY0" fmla="*/ 0 h 2130951"/>
              <a:gd name="connsiteX1" fmla="*/ 3191370 w 5920619"/>
              <a:gd name="connsiteY1" fmla="*/ 0 h 2130951"/>
              <a:gd name="connsiteX2" fmla="*/ 3346315 w 5920619"/>
              <a:gd name="connsiteY2" fmla="*/ 0 h 2130951"/>
              <a:gd name="connsiteX3" fmla="*/ 5920619 w 5920619"/>
              <a:gd name="connsiteY3" fmla="*/ 0 h 2130951"/>
              <a:gd name="connsiteX4" fmla="*/ 4936971 w 5920619"/>
              <a:gd name="connsiteY4" fmla="*/ 2130951 h 2130951"/>
              <a:gd name="connsiteX5" fmla="*/ 0 w 5920619"/>
              <a:gd name="connsiteY5" fmla="*/ 2130951 h 21309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920619" h="2130951">
                <a:moveTo>
                  <a:pt x="0" y="0"/>
                </a:moveTo>
                <a:lnTo>
                  <a:pt x="3191370" y="0"/>
                </a:lnTo>
                <a:lnTo>
                  <a:pt x="3346315" y="0"/>
                </a:lnTo>
                <a:lnTo>
                  <a:pt x="5920619" y="0"/>
                </a:lnTo>
                <a:lnTo>
                  <a:pt x="4936971" y="2130951"/>
                </a:lnTo>
                <a:lnTo>
                  <a:pt x="0" y="2130951"/>
                </a:lnTo>
                <a:close/>
              </a:path>
            </a:pathLst>
          </a:cu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Freeform 21">
            <a:extLst>
              <a:ext uri="{FF2B5EF4-FFF2-40B4-BE49-F238E27FC236}">
                <a16:creationId xmlns:a16="http://schemas.microsoft.com/office/drawing/2014/main" id="{85872F57-7F42-4F97-8391-DDC8D0054C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97839" y="0"/>
            <a:ext cx="7094160" cy="2130952"/>
          </a:xfrm>
          <a:custGeom>
            <a:avLst/>
            <a:gdLst>
              <a:gd name="connsiteX0" fmla="*/ 4417853 w 7094160"/>
              <a:gd name="connsiteY0" fmla="*/ 0 h 2130952"/>
              <a:gd name="connsiteX1" fmla="*/ 7094160 w 7094160"/>
              <a:gd name="connsiteY1" fmla="*/ 0 h 2130952"/>
              <a:gd name="connsiteX2" fmla="*/ 7094160 w 7094160"/>
              <a:gd name="connsiteY2" fmla="*/ 2130552 h 2130952"/>
              <a:gd name="connsiteX3" fmla="*/ 5920619 w 7094160"/>
              <a:gd name="connsiteY3" fmla="*/ 2130552 h 2130952"/>
              <a:gd name="connsiteX4" fmla="*/ 5920619 w 7094160"/>
              <a:gd name="connsiteY4" fmla="*/ 2130952 h 2130952"/>
              <a:gd name="connsiteX5" fmla="*/ 2729249 w 7094160"/>
              <a:gd name="connsiteY5" fmla="*/ 2130952 h 2130952"/>
              <a:gd name="connsiteX6" fmla="*/ 2574304 w 7094160"/>
              <a:gd name="connsiteY6" fmla="*/ 2130952 h 2130952"/>
              <a:gd name="connsiteX7" fmla="*/ 0 w 7094160"/>
              <a:gd name="connsiteY7" fmla="*/ 2130952 h 2130952"/>
              <a:gd name="connsiteX8" fmla="*/ 983648 w 7094160"/>
              <a:gd name="connsiteY8" fmla="*/ 1 h 2130952"/>
              <a:gd name="connsiteX9" fmla="*/ 4417853 w 7094160"/>
              <a:gd name="connsiteY9" fmla="*/ 1 h 21309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094160" h="2130952">
                <a:moveTo>
                  <a:pt x="4417853" y="0"/>
                </a:moveTo>
                <a:lnTo>
                  <a:pt x="7094160" y="0"/>
                </a:lnTo>
                <a:lnTo>
                  <a:pt x="7094160" y="2130552"/>
                </a:lnTo>
                <a:lnTo>
                  <a:pt x="5920619" y="2130552"/>
                </a:lnTo>
                <a:lnTo>
                  <a:pt x="5920619" y="2130952"/>
                </a:lnTo>
                <a:lnTo>
                  <a:pt x="2729249" y="2130952"/>
                </a:lnTo>
                <a:lnTo>
                  <a:pt x="2574304" y="2130952"/>
                </a:lnTo>
                <a:lnTo>
                  <a:pt x="0" y="2130952"/>
                </a:lnTo>
                <a:lnTo>
                  <a:pt x="983648" y="1"/>
                </a:lnTo>
                <a:lnTo>
                  <a:pt x="4417853" y="1"/>
                </a:lnTo>
                <a:close/>
              </a:path>
            </a:pathLst>
          </a:custGeom>
          <a:solidFill>
            <a:srgbClr val="7F7F7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0" name="Freeform: Shape 11">
            <a:extLst>
              <a:ext uri="{FF2B5EF4-FFF2-40B4-BE49-F238E27FC236}">
                <a16:creationId xmlns:a16="http://schemas.microsoft.com/office/drawing/2014/main" id="{04DC2037-48A0-4F22-B9D4-8EAEBC780A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49721" y="4682920"/>
            <a:ext cx="4522796" cy="2175080"/>
          </a:xfrm>
          <a:custGeom>
            <a:avLst/>
            <a:gdLst>
              <a:gd name="connsiteX0" fmla="*/ 3515449 w 4522796"/>
              <a:gd name="connsiteY0" fmla="*/ 0 h 2175080"/>
              <a:gd name="connsiteX1" fmla="*/ 0 w 4522796"/>
              <a:gd name="connsiteY1" fmla="*/ 0 h 2175080"/>
              <a:gd name="connsiteX2" fmla="*/ 0 w 4522796"/>
              <a:gd name="connsiteY2" fmla="*/ 2175080 h 2175080"/>
              <a:gd name="connsiteX3" fmla="*/ 4522796 w 4522796"/>
              <a:gd name="connsiteY3" fmla="*/ 2175080 h 2175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22796" h="2175080">
                <a:moveTo>
                  <a:pt x="3515449" y="0"/>
                </a:moveTo>
                <a:lnTo>
                  <a:pt x="0" y="0"/>
                </a:lnTo>
                <a:lnTo>
                  <a:pt x="0" y="2175080"/>
                </a:lnTo>
                <a:lnTo>
                  <a:pt x="4522796" y="217508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b="1"/>
          </a:p>
        </p:txBody>
      </p:sp>
      <p:sp>
        <p:nvSpPr>
          <p:cNvPr id="21" name="Freeform 22">
            <a:extLst>
              <a:ext uri="{FF2B5EF4-FFF2-40B4-BE49-F238E27FC236}">
                <a16:creationId xmlns:a16="http://schemas.microsoft.com/office/drawing/2014/main" id="{0006CBFD-ADA0-43D1-9332-9C34CA1C76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66810" y="4682920"/>
            <a:ext cx="5925190" cy="2175080"/>
          </a:xfrm>
          <a:custGeom>
            <a:avLst/>
            <a:gdLst>
              <a:gd name="connsiteX0" fmla="*/ 1007347 w 5925190"/>
              <a:gd name="connsiteY0" fmla="*/ 0 h 2175080"/>
              <a:gd name="connsiteX1" fmla="*/ 5925190 w 5925190"/>
              <a:gd name="connsiteY1" fmla="*/ 0 h 2175080"/>
              <a:gd name="connsiteX2" fmla="*/ 5925190 w 5925190"/>
              <a:gd name="connsiteY2" fmla="*/ 2175080 h 2175080"/>
              <a:gd name="connsiteX3" fmla="*/ 0 w 5925190"/>
              <a:gd name="connsiteY3" fmla="*/ 2175080 h 2175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25190" h="2175080">
                <a:moveTo>
                  <a:pt x="1007347" y="0"/>
                </a:moveTo>
                <a:lnTo>
                  <a:pt x="5925190" y="0"/>
                </a:lnTo>
                <a:lnTo>
                  <a:pt x="5925190" y="2175080"/>
                </a:lnTo>
                <a:lnTo>
                  <a:pt x="0" y="217508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2" name="Freeform 25">
            <a:extLst>
              <a:ext uri="{FF2B5EF4-FFF2-40B4-BE49-F238E27FC236}">
                <a16:creationId xmlns:a16="http://schemas.microsoft.com/office/drawing/2014/main" id="{2B931666-F28F-45F3-A074-66D2272D58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682920"/>
            <a:ext cx="7114535" cy="2175080"/>
          </a:xfrm>
          <a:custGeom>
            <a:avLst/>
            <a:gdLst>
              <a:gd name="connsiteX0" fmla="*/ 0 w 7114535"/>
              <a:gd name="connsiteY0" fmla="*/ 0 h 2175080"/>
              <a:gd name="connsiteX1" fmla="*/ 1189345 w 7114535"/>
              <a:gd name="connsiteY1" fmla="*/ 0 h 2175080"/>
              <a:gd name="connsiteX2" fmla="*/ 7114535 w 7114535"/>
              <a:gd name="connsiteY2" fmla="*/ 0 h 2175080"/>
              <a:gd name="connsiteX3" fmla="*/ 6107188 w 7114535"/>
              <a:gd name="connsiteY3" fmla="*/ 2175080 h 2175080"/>
              <a:gd name="connsiteX4" fmla="*/ 1189345 w 7114535"/>
              <a:gd name="connsiteY4" fmla="*/ 2175080 h 2175080"/>
              <a:gd name="connsiteX5" fmla="*/ 0 w 7114535"/>
              <a:gd name="connsiteY5" fmla="*/ 2175080 h 2175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114535" h="2175080">
                <a:moveTo>
                  <a:pt x="0" y="0"/>
                </a:moveTo>
                <a:lnTo>
                  <a:pt x="1189345" y="0"/>
                </a:lnTo>
                <a:lnTo>
                  <a:pt x="7114535" y="0"/>
                </a:lnTo>
                <a:lnTo>
                  <a:pt x="6107188" y="2175080"/>
                </a:lnTo>
                <a:lnTo>
                  <a:pt x="1189345" y="2175080"/>
                </a:lnTo>
                <a:lnTo>
                  <a:pt x="0" y="2175080"/>
                </a:lnTo>
                <a:close/>
              </a:path>
            </a:pathLst>
          </a:custGeom>
          <a:solidFill>
            <a:srgbClr val="7F7F7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089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7A8FFF2-9667-4DAE-9967-35AE634D04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3363" y="365760"/>
            <a:ext cx="9367203" cy="1188720"/>
          </a:xfrm>
        </p:spPr>
        <p:txBody>
          <a:bodyPr>
            <a:normAutofit/>
          </a:bodyPr>
          <a:lstStyle/>
          <a:p>
            <a:r>
              <a:rPr lang="fr-FR">
                <a:cs typeface="Calibri Light"/>
              </a:rPr>
              <a:t>Phase 1: Préparer le changement</a:t>
            </a:r>
            <a:endParaRPr lang="fr-FR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B4857B-ED7C-444D-9F04-2F885114A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764099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18046FB-44EA-4FD8-A585-EA09A319B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12191999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79F5F2B-8B58-4140-AE6A-51F6C67B1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971654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10126F5-C0E8-4555-A390-49F2CCF7F7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3363" y="2176272"/>
            <a:ext cx="9367204" cy="4041648"/>
          </a:xfrm>
        </p:spPr>
        <p:txBody>
          <a:bodyPr anchor="t">
            <a:normAutofit/>
          </a:bodyPr>
          <a:lstStyle/>
          <a:p>
            <a:r>
              <a:rPr lang="fr-FR" sz="2400">
                <a:cs typeface="Calibri"/>
              </a:rPr>
              <a:t>Déterminer les acteurs clés</a:t>
            </a:r>
          </a:p>
          <a:p>
            <a:endParaRPr lang="fr-FR" sz="2400">
              <a:cs typeface="Calibri"/>
            </a:endParaRPr>
          </a:p>
          <a:p>
            <a:r>
              <a:rPr lang="fr-FR" sz="2400">
                <a:cs typeface="Calibri"/>
              </a:rPr>
              <a:t>Préparer le terrain pour la communication</a:t>
            </a:r>
          </a:p>
          <a:p>
            <a:endParaRPr lang="fr-FR" sz="2400">
              <a:ea typeface="+mn-lt"/>
              <a:cs typeface="+mn-lt"/>
            </a:endParaRPr>
          </a:p>
          <a:p>
            <a:r>
              <a:rPr lang="fr-FR" sz="2400">
                <a:ea typeface="+mn-lt"/>
                <a:cs typeface="+mn-lt"/>
              </a:rPr>
              <a:t>Mettre en place en place une stratégie de formation du SWAG pour les employés et notamment les managers</a:t>
            </a:r>
            <a:endParaRPr lang="fr-FR" sz="2400">
              <a:cs typeface="Calibri"/>
            </a:endParaRPr>
          </a:p>
          <a:p>
            <a:endParaRPr lang="fr-FR" sz="2400">
              <a:cs typeface="Calibri"/>
            </a:endParaRPr>
          </a:p>
          <a:p>
            <a:pPr lvl="1"/>
            <a:endParaRPr lang="fr-FR" sz="200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807868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FF3200E-BADF-477A-BCB0-C6DF8E093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9" y="365760"/>
            <a:ext cx="9912072" cy="1188404"/>
          </a:xfrm>
        </p:spPr>
        <p:txBody>
          <a:bodyPr>
            <a:normAutofit/>
          </a:bodyPr>
          <a:lstStyle/>
          <a:p>
            <a:r>
              <a:rPr lang="fr-FR">
                <a:cs typeface="Calibri Light"/>
              </a:rPr>
              <a:t>Phase 2: Entamer les changements</a:t>
            </a:r>
            <a:endParaRPr lang="fr-FR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0BC1D9E-4401-4EC0-88FD-ED103CB57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00670" y="2"/>
            <a:ext cx="1191330" cy="1511301"/>
          </a:xfrm>
          <a:custGeom>
            <a:avLst/>
            <a:gdLst>
              <a:gd name="connsiteX0" fmla="*/ 697617 w 1191330"/>
              <a:gd name="connsiteY0" fmla="*/ 0 h 1511301"/>
              <a:gd name="connsiteX1" fmla="*/ 1191330 w 1191330"/>
              <a:gd name="connsiteY1" fmla="*/ 0 h 1511301"/>
              <a:gd name="connsiteX2" fmla="*/ 1191330 w 1191330"/>
              <a:gd name="connsiteY2" fmla="*/ 1511301 h 1511301"/>
              <a:gd name="connsiteX3" fmla="*/ 0 w 1191330"/>
              <a:gd name="connsiteY3" fmla="*/ 1511301 h 15113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91330" h="1511301">
                <a:moveTo>
                  <a:pt x="697617" y="0"/>
                </a:moveTo>
                <a:lnTo>
                  <a:pt x="1191330" y="0"/>
                </a:lnTo>
                <a:lnTo>
                  <a:pt x="1191330" y="1511301"/>
                </a:lnTo>
                <a:lnTo>
                  <a:pt x="0" y="151130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6200B311-3585-4069-AAC6-CD443FA5B8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23986" y="1690688"/>
            <a:ext cx="3668014" cy="5167312"/>
          </a:xfrm>
          <a:custGeom>
            <a:avLst/>
            <a:gdLst>
              <a:gd name="connsiteX0" fmla="*/ 2391664 w 3668014"/>
              <a:gd name="connsiteY0" fmla="*/ 0 h 5167312"/>
              <a:gd name="connsiteX1" fmla="*/ 3668014 w 3668014"/>
              <a:gd name="connsiteY1" fmla="*/ 0 h 5167312"/>
              <a:gd name="connsiteX2" fmla="*/ 3668014 w 3668014"/>
              <a:gd name="connsiteY2" fmla="*/ 5167312 h 5167312"/>
              <a:gd name="connsiteX3" fmla="*/ 0 w 3668014"/>
              <a:gd name="connsiteY3" fmla="*/ 5167312 h 5167312"/>
              <a:gd name="connsiteX4" fmla="*/ 2393879 w 3668014"/>
              <a:gd name="connsiteY4" fmla="*/ 952 h 5167312"/>
              <a:gd name="connsiteX5" fmla="*/ 2391664 w 3668014"/>
              <a:gd name="connsiteY5" fmla="*/ 952 h 5167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668014" h="5167312">
                <a:moveTo>
                  <a:pt x="2391664" y="0"/>
                </a:moveTo>
                <a:lnTo>
                  <a:pt x="3668014" y="0"/>
                </a:lnTo>
                <a:lnTo>
                  <a:pt x="3668014" y="5167312"/>
                </a:lnTo>
                <a:lnTo>
                  <a:pt x="0" y="5167312"/>
                </a:lnTo>
                <a:lnTo>
                  <a:pt x="2393879" y="952"/>
                </a:lnTo>
                <a:lnTo>
                  <a:pt x="2391664" y="952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B0AAF7C9-094E-400C-A428-F6C2262F6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0688"/>
            <a:ext cx="10753320" cy="5167312"/>
          </a:xfrm>
          <a:custGeom>
            <a:avLst/>
            <a:gdLst>
              <a:gd name="connsiteX0" fmla="*/ 0 w 10753320"/>
              <a:gd name="connsiteY0" fmla="*/ 0 h 5167312"/>
              <a:gd name="connsiteX1" fmla="*/ 9680943 w 10753320"/>
              <a:gd name="connsiteY1" fmla="*/ 0 h 5167312"/>
              <a:gd name="connsiteX2" fmla="*/ 9680223 w 10753320"/>
              <a:gd name="connsiteY2" fmla="*/ 952 h 5167312"/>
              <a:gd name="connsiteX3" fmla="*/ 10753320 w 10753320"/>
              <a:gd name="connsiteY3" fmla="*/ 952 h 5167312"/>
              <a:gd name="connsiteX4" fmla="*/ 8359441 w 10753320"/>
              <a:gd name="connsiteY4" fmla="*/ 5167312 h 5167312"/>
              <a:gd name="connsiteX5" fmla="*/ 4821866 w 10753320"/>
              <a:gd name="connsiteY5" fmla="*/ 5167312 h 5167312"/>
              <a:gd name="connsiteX6" fmla="*/ 4821866 w 10753320"/>
              <a:gd name="connsiteY6" fmla="*/ 5166360 h 5167312"/>
              <a:gd name="connsiteX7" fmla="*/ 0 w 10753320"/>
              <a:gd name="connsiteY7" fmla="*/ 5166360 h 5167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753320" h="5167312">
                <a:moveTo>
                  <a:pt x="0" y="0"/>
                </a:moveTo>
                <a:lnTo>
                  <a:pt x="9680943" y="0"/>
                </a:lnTo>
                <a:lnTo>
                  <a:pt x="9680223" y="952"/>
                </a:lnTo>
                <a:lnTo>
                  <a:pt x="10753320" y="952"/>
                </a:lnTo>
                <a:lnTo>
                  <a:pt x="8359441" y="5167312"/>
                </a:lnTo>
                <a:lnTo>
                  <a:pt x="4821866" y="5167312"/>
                </a:lnTo>
                <a:lnTo>
                  <a:pt x="4821866" y="5166360"/>
                </a:lnTo>
                <a:lnTo>
                  <a:pt x="0" y="5166360"/>
                </a:lnTo>
                <a:close/>
              </a:path>
            </a:pathLst>
          </a:custGeom>
          <a:solidFill>
            <a:srgbClr val="30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A9CBA56-60BA-48A0-B0E7-9CD6031CA7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2174358"/>
            <a:ext cx="8004456" cy="4045467"/>
          </a:xfrm>
        </p:spPr>
        <p:txBody>
          <a:bodyPr anchor="t">
            <a:normAutofit/>
          </a:bodyPr>
          <a:lstStyle/>
          <a:p>
            <a:r>
              <a:rPr lang="fr-FR" sz="2400">
                <a:solidFill>
                  <a:schemeClr val="bg1"/>
                </a:solidFill>
                <a:ea typeface="+mn-lt"/>
                <a:cs typeface="+mn-lt"/>
              </a:rPr>
              <a:t>Mise en place de la communication sur les supports prévus pour les citoyens </a:t>
            </a:r>
            <a:endParaRPr lang="fr-FR" sz="2400">
              <a:solidFill>
                <a:schemeClr val="bg1"/>
              </a:solidFill>
              <a:cs typeface="Calibri" panose="020F0502020204030204"/>
            </a:endParaRPr>
          </a:p>
          <a:p>
            <a:endParaRPr lang="fr-FR" sz="2400">
              <a:solidFill>
                <a:schemeClr val="bg1"/>
              </a:solidFill>
              <a:cs typeface="Calibri" panose="020F0502020204030204"/>
            </a:endParaRPr>
          </a:p>
          <a:p>
            <a:r>
              <a:rPr lang="fr-FR" sz="2400">
                <a:solidFill>
                  <a:schemeClr val="bg1"/>
                </a:solidFill>
                <a:ea typeface="+mn-lt"/>
                <a:cs typeface="+mn-lt"/>
              </a:rPr>
              <a:t>Séminaire à destination des managers du SWAG</a:t>
            </a:r>
            <a:endParaRPr lang="fr-FR" sz="2400">
              <a:solidFill>
                <a:schemeClr val="bg1"/>
              </a:solidFill>
              <a:cs typeface="Calibri" panose="020F0502020204030204"/>
            </a:endParaRPr>
          </a:p>
          <a:p>
            <a:endParaRPr lang="fr-FR" sz="2400">
              <a:solidFill>
                <a:schemeClr val="bg1"/>
              </a:solidFill>
              <a:cs typeface="Calibri" panose="020F0502020204030204"/>
            </a:endParaRPr>
          </a:p>
          <a:p>
            <a:r>
              <a:rPr lang="fr-FR" sz="2400">
                <a:solidFill>
                  <a:schemeClr val="bg1"/>
                </a:solidFill>
                <a:ea typeface="+mn-lt"/>
                <a:cs typeface="+mn-lt"/>
              </a:rPr>
              <a:t>Formation et coaching des employés du SWAG et de la police</a:t>
            </a:r>
            <a:endParaRPr lang="fr-FR" sz="2400">
              <a:solidFill>
                <a:schemeClr val="bg1"/>
              </a:solidFill>
              <a:cs typeface="Calibri" panose="020F0502020204030204"/>
            </a:endParaRPr>
          </a:p>
          <a:p>
            <a:endParaRPr lang="fr-FR" sz="2400">
              <a:solidFill>
                <a:schemeClr val="bg1"/>
              </a:solidFill>
              <a:cs typeface="Calibri" panose="020F0502020204030204"/>
            </a:endParaRPr>
          </a:p>
          <a:p>
            <a:r>
              <a:rPr lang="fr-FR" sz="2400">
                <a:solidFill>
                  <a:schemeClr val="bg1"/>
                </a:solidFill>
                <a:cs typeface="Calibri" panose="020F0502020204030204"/>
              </a:rPr>
              <a:t>Formation et coaching management de la résistance</a:t>
            </a:r>
          </a:p>
          <a:p>
            <a:endParaRPr lang="fr-FR" sz="2400">
              <a:solidFill>
                <a:schemeClr val="bg1"/>
              </a:solidFill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9551222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6">
            <a:extLst>
              <a:ext uri="{FF2B5EF4-FFF2-40B4-BE49-F238E27FC236}">
                <a16:creationId xmlns:a16="http://schemas.microsoft.com/office/drawing/2014/main" id="{28D31E1B-0407-4223-9642-0B642CBF57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8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062849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656150"/>
            <a:ext cx="5672667" cy="14315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DBA3F60-7F42-48D9-8A0F-15A228B2D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73940"/>
            <a:ext cx="5052369" cy="1035781"/>
          </a:xfrm>
        </p:spPr>
        <p:txBody>
          <a:bodyPr anchor="ctr">
            <a:normAutofit/>
          </a:bodyPr>
          <a:lstStyle/>
          <a:p>
            <a:r>
              <a:rPr lang="fr-FR" sz="3300">
                <a:cs typeface="Calibri Light"/>
              </a:rPr>
              <a:t>Phase 3: Renforcer le changement</a:t>
            </a:r>
            <a:endParaRPr lang="fr-FR" sz="330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3C673A1-F11A-4148-899A-1F9B8B43C6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9" y="2524721"/>
            <a:ext cx="4991629" cy="3677123"/>
          </a:xfrm>
        </p:spPr>
        <p:txBody>
          <a:bodyPr anchor="ctr">
            <a:normAutofit/>
          </a:bodyPr>
          <a:lstStyle/>
          <a:p>
            <a:r>
              <a:rPr lang="fr-FR" sz="1800">
                <a:cs typeface="Calibri"/>
              </a:rPr>
              <a:t>Mesure de l'impact du changement</a:t>
            </a:r>
          </a:p>
          <a:p>
            <a:pPr lvl="1">
              <a:buFont typeface="Wingdings" panose="020B0604020202020204" pitchFamily="34" charset="0"/>
              <a:buChar char="Ø"/>
            </a:pPr>
            <a:r>
              <a:rPr lang="fr-FR" sz="1800">
                <a:cs typeface="Calibri"/>
              </a:rPr>
              <a:t>KPI</a:t>
            </a:r>
          </a:p>
          <a:p>
            <a:pPr lvl="1">
              <a:buFont typeface="Wingdings" panose="020B0604020202020204" pitchFamily="34" charset="0"/>
              <a:buChar char="Ø"/>
            </a:pPr>
            <a:r>
              <a:rPr lang="fr-FR" sz="1800">
                <a:cs typeface="Calibri"/>
              </a:rPr>
              <a:t>Audit de performance</a:t>
            </a:r>
          </a:p>
          <a:p>
            <a:pPr lvl="1">
              <a:buFont typeface="Wingdings" panose="020B0604020202020204" pitchFamily="34" charset="0"/>
              <a:buChar char="Ø"/>
            </a:pPr>
            <a:r>
              <a:rPr lang="fr-FR" sz="1800">
                <a:cs typeface="Calibri"/>
              </a:rPr>
              <a:t>Sondages</a:t>
            </a:r>
          </a:p>
          <a:p>
            <a:r>
              <a:rPr lang="fr-FR" sz="1800">
                <a:cs typeface="Calibri"/>
              </a:rPr>
              <a:t>Gestion de la résistance </a:t>
            </a:r>
          </a:p>
          <a:p>
            <a:pPr lvl="1">
              <a:buFont typeface="Wingdings" panose="020B0604020202020204" pitchFamily="34" charset="0"/>
              <a:buChar char="Ø"/>
            </a:pPr>
            <a:r>
              <a:rPr lang="fr-FR" sz="1800">
                <a:cs typeface="Calibri"/>
              </a:rPr>
              <a:t>Analyse des retours citoyens/employés</a:t>
            </a:r>
          </a:p>
          <a:p>
            <a:pPr lvl="1">
              <a:buFont typeface="Wingdings" panose="020B0604020202020204" pitchFamily="34" charset="0"/>
              <a:buChar char="Ø"/>
            </a:pPr>
            <a:r>
              <a:rPr lang="fr-FR" sz="1800">
                <a:cs typeface="Calibri"/>
              </a:rPr>
              <a:t>Indicateurs de performances</a:t>
            </a:r>
          </a:p>
          <a:p>
            <a:r>
              <a:rPr lang="fr-FR" sz="1800">
                <a:cs typeface="Calibri"/>
              </a:rPr>
              <a:t>Célébration des réussites </a:t>
            </a:r>
          </a:p>
          <a:p>
            <a:pPr lvl="1">
              <a:buFont typeface="Wingdings" panose="020B0604020202020204" pitchFamily="34" charset="0"/>
              <a:buChar char="Ø"/>
            </a:pPr>
            <a:r>
              <a:rPr lang="fr-FR" sz="1800">
                <a:cs typeface="Calibri"/>
              </a:rPr>
              <a:t>Détecter les réussites</a:t>
            </a:r>
          </a:p>
          <a:p>
            <a:pPr lvl="1">
              <a:buFont typeface="Wingdings" panose="020B0604020202020204" pitchFamily="34" charset="0"/>
              <a:buChar char="Ø"/>
            </a:pPr>
            <a:r>
              <a:rPr lang="fr-FR" sz="1800">
                <a:cs typeface="Calibri"/>
              </a:rPr>
              <a:t>Festival et pot de départ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0E96339-907C-46C3-99AC-31179B6F0E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16299" y="608401"/>
            <a:ext cx="4637502" cy="559344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phic 4" descr="Building Brick Wall with solid fill">
            <a:extLst>
              <a:ext uri="{FF2B5EF4-FFF2-40B4-BE49-F238E27FC236}">
                <a16:creationId xmlns:a16="http://schemas.microsoft.com/office/drawing/2014/main" id="{C6E7BA70-8FBE-40E1-A266-A822B87E1E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30493" y="1347516"/>
            <a:ext cx="4223252" cy="4223252"/>
          </a:xfrm>
          <a:prstGeom prst="rect">
            <a:avLst/>
          </a:prstGeom>
        </p:spPr>
      </p:pic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92240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67648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07F19E5-8024-45B3-A490-D9BB18811E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fr-FR" sz="4800">
                <a:cs typeface="Calibri Light"/>
              </a:rPr>
              <a:t>Stratégie globale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EE7BB20-3AE9-443E-8FDD-34411ADA2D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fr-FR" sz="2000">
                <a:cs typeface="Calibri"/>
              </a:rPr>
              <a:t>Ciblage des personnes clés</a:t>
            </a:r>
          </a:p>
          <a:p>
            <a:r>
              <a:rPr lang="fr-FR" sz="2000">
                <a:cs typeface="Calibri"/>
              </a:rPr>
              <a:t>Axe directeur porté sur l'écoute</a:t>
            </a:r>
          </a:p>
          <a:p>
            <a:r>
              <a:rPr lang="fr-FR" sz="2000">
                <a:ea typeface="+mn-lt"/>
                <a:cs typeface="+mn-lt"/>
              </a:rPr>
              <a:t>Priorisation des taches</a:t>
            </a:r>
          </a:p>
          <a:p>
            <a:r>
              <a:rPr lang="fr-FR" sz="2000">
                <a:ea typeface="+mn-lt"/>
                <a:cs typeface="+mn-lt"/>
              </a:rPr>
              <a:t>Implication native des membres du SWAG</a:t>
            </a:r>
            <a:endParaRPr lang="fr-FR" sz="2000"/>
          </a:p>
          <a:p>
            <a:r>
              <a:rPr lang="fr-FR" sz="2000">
                <a:cs typeface="Calibri"/>
              </a:rPr>
              <a:t>Identification des besoins</a:t>
            </a:r>
          </a:p>
          <a:p>
            <a:r>
              <a:rPr lang="fr-FR" sz="2000">
                <a:cs typeface="Calibri"/>
              </a:rPr>
              <a:t>Adoption d'outils technologiques</a:t>
            </a:r>
          </a:p>
          <a:p>
            <a:endParaRPr lang="fr-FR" sz="2000">
              <a:cs typeface="Calibri"/>
            </a:endParaRPr>
          </a:p>
        </p:txBody>
      </p:sp>
      <p:pic>
        <p:nvPicPr>
          <p:cNvPr id="4" name="Graphic 4" descr="Playbook with solid fill">
            <a:extLst>
              <a:ext uri="{FF2B5EF4-FFF2-40B4-BE49-F238E27FC236}">
                <a16:creationId xmlns:a16="http://schemas.microsoft.com/office/drawing/2014/main" id="{9CB778FB-BA19-4BD0-9066-5286E6F127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9548" y="2484255"/>
            <a:ext cx="3714244" cy="3714244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7908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1706C01-28D8-4995-BFCA-FCF391CA5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3363" y="365760"/>
            <a:ext cx="9367203" cy="1188720"/>
          </a:xfrm>
        </p:spPr>
        <p:txBody>
          <a:bodyPr>
            <a:normAutofit/>
          </a:bodyPr>
          <a:lstStyle/>
          <a:p>
            <a:r>
              <a:rPr lang="fr-FR">
                <a:cs typeface="Calibri Light"/>
              </a:rPr>
              <a:t>Points d'améliorations</a:t>
            </a:r>
            <a:endParaRPr lang="fr-FR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B4857B-ED7C-444D-9F04-2F885114A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764099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18046FB-44EA-4FD8-A585-EA09A319B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12191999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79F5F2B-8B58-4140-AE6A-51F6C67B1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971654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DE0186C-8E8D-4BE2-A51B-258C397ED1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3363" y="2176272"/>
            <a:ext cx="9367204" cy="4041648"/>
          </a:xfrm>
        </p:spPr>
        <p:txBody>
          <a:bodyPr anchor="t">
            <a:normAutofit/>
          </a:bodyPr>
          <a:lstStyle/>
          <a:p>
            <a:r>
              <a:rPr lang="fr-FR" sz="2400">
                <a:cs typeface="Calibri"/>
              </a:rPr>
              <a:t>Amélioration de la planification (dimension temporelle)</a:t>
            </a:r>
            <a:endParaRPr lang="fr-FR">
              <a:cs typeface="Calibri" panose="020F0502020204030204"/>
            </a:endParaRPr>
          </a:p>
          <a:p>
            <a:r>
              <a:rPr lang="fr-FR" sz="2400">
                <a:cs typeface="Calibri"/>
              </a:rPr>
              <a:t>Prise en compte de l'impact écologique</a:t>
            </a:r>
          </a:p>
          <a:p>
            <a:r>
              <a:rPr lang="fr-FR" sz="2400">
                <a:cs typeface="Calibri"/>
              </a:rPr>
              <a:t>Prise en compte de l'accessibilité (mobilité réduite etc...)</a:t>
            </a:r>
          </a:p>
          <a:p>
            <a:r>
              <a:rPr lang="fr-FR" sz="2400">
                <a:cs typeface="Calibri"/>
              </a:rPr>
              <a:t>Segmentation des civils en plusieurs groupe</a:t>
            </a:r>
          </a:p>
          <a:p>
            <a:endParaRPr lang="fr-FR" sz="2400">
              <a:cs typeface="Calibri"/>
            </a:endParaRPr>
          </a:p>
          <a:p>
            <a:endParaRPr lang="fr-FR">
              <a:cs typeface="Calibri"/>
            </a:endParaRPr>
          </a:p>
          <a:p>
            <a:endParaRPr lang="fr-FR">
              <a:cs typeface="Calibri"/>
            </a:endParaRPr>
          </a:p>
          <a:p>
            <a:endParaRPr lang="fr-FR" sz="240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073501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B2BE9B2-0095-423F-8AA8-BBBBA5CF6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245809"/>
            <a:ext cx="9144000" cy="15647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Conclusion</a:t>
            </a:r>
          </a:p>
        </p:txBody>
      </p:sp>
      <p:sp>
        <p:nvSpPr>
          <p:cNvPr id="8" name="Freeform 14">
            <a:extLst>
              <a:ext uri="{FF2B5EF4-FFF2-40B4-BE49-F238E27FC236}">
                <a16:creationId xmlns:a16="http://schemas.microsoft.com/office/drawing/2014/main" id="{C66F2F30-5DC0-44A0-BFA6-E12F46ED16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5920619" cy="2130951"/>
          </a:xfrm>
          <a:custGeom>
            <a:avLst/>
            <a:gdLst>
              <a:gd name="connsiteX0" fmla="*/ 0 w 5920619"/>
              <a:gd name="connsiteY0" fmla="*/ 0 h 2130951"/>
              <a:gd name="connsiteX1" fmla="*/ 3191370 w 5920619"/>
              <a:gd name="connsiteY1" fmla="*/ 0 h 2130951"/>
              <a:gd name="connsiteX2" fmla="*/ 3346315 w 5920619"/>
              <a:gd name="connsiteY2" fmla="*/ 0 h 2130951"/>
              <a:gd name="connsiteX3" fmla="*/ 5920619 w 5920619"/>
              <a:gd name="connsiteY3" fmla="*/ 0 h 2130951"/>
              <a:gd name="connsiteX4" fmla="*/ 4936971 w 5920619"/>
              <a:gd name="connsiteY4" fmla="*/ 2130951 h 2130951"/>
              <a:gd name="connsiteX5" fmla="*/ 0 w 5920619"/>
              <a:gd name="connsiteY5" fmla="*/ 2130951 h 21309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920619" h="2130951">
                <a:moveTo>
                  <a:pt x="0" y="0"/>
                </a:moveTo>
                <a:lnTo>
                  <a:pt x="3191370" y="0"/>
                </a:lnTo>
                <a:lnTo>
                  <a:pt x="3346315" y="0"/>
                </a:lnTo>
                <a:lnTo>
                  <a:pt x="5920619" y="0"/>
                </a:lnTo>
                <a:lnTo>
                  <a:pt x="4936971" y="2130951"/>
                </a:lnTo>
                <a:lnTo>
                  <a:pt x="0" y="2130951"/>
                </a:lnTo>
                <a:close/>
              </a:path>
            </a:pathLst>
          </a:cu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 21">
            <a:extLst>
              <a:ext uri="{FF2B5EF4-FFF2-40B4-BE49-F238E27FC236}">
                <a16:creationId xmlns:a16="http://schemas.microsoft.com/office/drawing/2014/main" id="{85872F57-7F42-4F97-8391-DDC8D0054C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97839" y="0"/>
            <a:ext cx="7094160" cy="2130952"/>
          </a:xfrm>
          <a:custGeom>
            <a:avLst/>
            <a:gdLst>
              <a:gd name="connsiteX0" fmla="*/ 4417853 w 7094160"/>
              <a:gd name="connsiteY0" fmla="*/ 0 h 2130952"/>
              <a:gd name="connsiteX1" fmla="*/ 7094160 w 7094160"/>
              <a:gd name="connsiteY1" fmla="*/ 0 h 2130952"/>
              <a:gd name="connsiteX2" fmla="*/ 7094160 w 7094160"/>
              <a:gd name="connsiteY2" fmla="*/ 2130552 h 2130952"/>
              <a:gd name="connsiteX3" fmla="*/ 5920619 w 7094160"/>
              <a:gd name="connsiteY3" fmla="*/ 2130552 h 2130952"/>
              <a:gd name="connsiteX4" fmla="*/ 5920619 w 7094160"/>
              <a:gd name="connsiteY4" fmla="*/ 2130952 h 2130952"/>
              <a:gd name="connsiteX5" fmla="*/ 2729249 w 7094160"/>
              <a:gd name="connsiteY5" fmla="*/ 2130952 h 2130952"/>
              <a:gd name="connsiteX6" fmla="*/ 2574304 w 7094160"/>
              <a:gd name="connsiteY6" fmla="*/ 2130952 h 2130952"/>
              <a:gd name="connsiteX7" fmla="*/ 0 w 7094160"/>
              <a:gd name="connsiteY7" fmla="*/ 2130952 h 2130952"/>
              <a:gd name="connsiteX8" fmla="*/ 983648 w 7094160"/>
              <a:gd name="connsiteY8" fmla="*/ 1 h 2130952"/>
              <a:gd name="connsiteX9" fmla="*/ 4417853 w 7094160"/>
              <a:gd name="connsiteY9" fmla="*/ 1 h 21309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094160" h="2130952">
                <a:moveTo>
                  <a:pt x="4417853" y="0"/>
                </a:moveTo>
                <a:lnTo>
                  <a:pt x="7094160" y="0"/>
                </a:lnTo>
                <a:lnTo>
                  <a:pt x="7094160" y="2130552"/>
                </a:lnTo>
                <a:lnTo>
                  <a:pt x="5920619" y="2130552"/>
                </a:lnTo>
                <a:lnTo>
                  <a:pt x="5920619" y="2130952"/>
                </a:lnTo>
                <a:lnTo>
                  <a:pt x="2729249" y="2130952"/>
                </a:lnTo>
                <a:lnTo>
                  <a:pt x="2574304" y="2130952"/>
                </a:lnTo>
                <a:lnTo>
                  <a:pt x="0" y="2130952"/>
                </a:lnTo>
                <a:lnTo>
                  <a:pt x="983648" y="1"/>
                </a:lnTo>
                <a:lnTo>
                  <a:pt x="4417853" y="1"/>
                </a:lnTo>
                <a:close/>
              </a:path>
            </a:pathLst>
          </a:custGeom>
          <a:solidFill>
            <a:srgbClr val="7F7F7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04DC2037-48A0-4F22-B9D4-8EAEBC780A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49721" y="4682920"/>
            <a:ext cx="4522796" cy="2175080"/>
          </a:xfrm>
          <a:custGeom>
            <a:avLst/>
            <a:gdLst>
              <a:gd name="connsiteX0" fmla="*/ 3515449 w 4522796"/>
              <a:gd name="connsiteY0" fmla="*/ 0 h 2175080"/>
              <a:gd name="connsiteX1" fmla="*/ 0 w 4522796"/>
              <a:gd name="connsiteY1" fmla="*/ 0 h 2175080"/>
              <a:gd name="connsiteX2" fmla="*/ 0 w 4522796"/>
              <a:gd name="connsiteY2" fmla="*/ 2175080 h 2175080"/>
              <a:gd name="connsiteX3" fmla="*/ 4522796 w 4522796"/>
              <a:gd name="connsiteY3" fmla="*/ 2175080 h 2175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22796" h="2175080">
                <a:moveTo>
                  <a:pt x="3515449" y="0"/>
                </a:moveTo>
                <a:lnTo>
                  <a:pt x="0" y="0"/>
                </a:lnTo>
                <a:lnTo>
                  <a:pt x="0" y="2175080"/>
                </a:lnTo>
                <a:lnTo>
                  <a:pt x="4522796" y="217508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b="1"/>
          </a:p>
        </p:txBody>
      </p:sp>
      <p:sp>
        <p:nvSpPr>
          <p:cNvPr id="14" name="Freeform 22">
            <a:extLst>
              <a:ext uri="{FF2B5EF4-FFF2-40B4-BE49-F238E27FC236}">
                <a16:creationId xmlns:a16="http://schemas.microsoft.com/office/drawing/2014/main" id="{0006CBFD-ADA0-43D1-9332-9C34CA1C76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66810" y="4682920"/>
            <a:ext cx="5925190" cy="2175080"/>
          </a:xfrm>
          <a:custGeom>
            <a:avLst/>
            <a:gdLst>
              <a:gd name="connsiteX0" fmla="*/ 1007347 w 5925190"/>
              <a:gd name="connsiteY0" fmla="*/ 0 h 2175080"/>
              <a:gd name="connsiteX1" fmla="*/ 5925190 w 5925190"/>
              <a:gd name="connsiteY1" fmla="*/ 0 h 2175080"/>
              <a:gd name="connsiteX2" fmla="*/ 5925190 w 5925190"/>
              <a:gd name="connsiteY2" fmla="*/ 2175080 h 2175080"/>
              <a:gd name="connsiteX3" fmla="*/ 0 w 5925190"/>
              <a:gd name="connsiteY3" fmla="*/ 2175080 h 2175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25190" h="2175080">
                <a:moveTo>
                  <a:pt x="1007347" y="0"/>
                </a:moveTo>
                <a:lnTo>
                  <a:pt x="5925190" y="0"/>
                </a:lnTo>
                <a:lnTo>
                  <a:pt x="5925190" y="2175080"/>
                </a:lnTo>
                <a:lnTo>
                  <a:pt x="0" y="217508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Freeform 25">
            <a:extLst>
              <a:ext uri="{FF2B5EF4-FFF2-40B4-BE49-F238E27FC236}">
                <a16:creationId xmlns:a16="http://schemas.microsoft.com/office/drawing/2014/main" id="{2B931666-F28F-45F3-A074-66D2272D58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682920"/>
            <a:ext cx="7114535" cy="2175080"/>
          </a:xfrm>
          <a:custGeom>
            <a:avLst/>
            <a:gdLst>
              <a:gd name="connsiteX0" fmla="*/ 0 w 7114535"/>
              <a:gd name="connsiteY0" fmla="*/ 0 h 2175080"/>
              <a:gd name="connsiteX1" fmla="*/ 1189345 w 7114535"/>
              <a:gd name="connsiteY1" fmla="*/ 0 h 2175080"/>
              <a:gd name="connsiteX2" fmla="*/ 7114535 w 7114535"/>
              <a:gd name="connsiteY2" fmla="*/ 0 h 2175080"/>
              <a:gd name="connsiteX3" fmla="*/ 6107188 w 7114535"/>
              <a:gd name="connsiteY3" fmla="*/ 2175080 h 2175080"/>
              <a:gd name="connsiteX4" fmla="*/ 1189345 w 7114535"/>
              <a:gd name="connsiteY4" fmla="*/ 2175080 h 2175080"/>
              <a:gd name="connsiteX5" fmla="*/ 0 w 7114535"/>
              <a:gd name="connsiteY5" fmla="*/ 2175080 h 2175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114535" h="2175080">
                <a:moveTo>
                  <a:pt x="0" y="0"/>
                </a:moveTo>
                <a:lnTo>
                  <a:pt x="1189345" y="0"/>
                </a:lnTo>
                <a:lnTo>
                  <a:pt x="7114535" y="0"/>
                </a:lnTo>
                <a:lnTo>
                  <a:pt x="6107188" y="2175080"/>
                </a:lnTo>
                <a:lnTo>
                  <a:pt x="1189345" y="2175080"/>
                </a:lnTo>
                <a:lnTo>
                  <a:pt x="0" y="2175080"/>
                </a:lnTo>
                <a:close/>
              </a:path>
            </a:pathLst>
          </a:custGeom>
          <a:solidFill>
            <a:srgbClr val="7F7F7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68665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Grand écran</PresentationFormat>
  <Slides>7</Slides>
  <Notes>0</Notes>
  <HiddenSlides>0</HiddenSlide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8" baseType="lpstr">
      <vt:lpstr>Thème Office</vt:lpstr>
      <vt:lpstr>Projet Gotham</vt:lpstr>
      <vt:lpstr>Phase 1: Préparer le changement</vt:lpstr>
      <vt:lpstr>Phase 2: Entamer les changements</vt:lpstr>
      <vt:lpstr>Phase 3: Renforcer le changement</vt:lpstr>
      <vt:lpstr>Stratégie globale</vt:lpstr>
      <vt:lpstr>Points d'améliorations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/>
  <cp:revision>2</cp:revision>
  <dcterms:created xsi:type="dcterms:W3CDTF">2021-02-11T08:45:27Z</dcterms:created>
  <dcterms:modified xsi:type="dcterms:W3CDTF">2021-02-12T15:24:06Z</dcterms:modified>
</cp:coreProperties>
</file>